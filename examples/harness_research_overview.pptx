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research synthesis + a concrete before/after.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picked LangGraph: typed state, explicit edges, easy to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structural QA pass is deterministic and runs before any LLM audit, so the loop trigger doesn't depend on a stochastic critic.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Harnesses for Better Training Decks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What an agent harness is and why it matters</a:t>
            </a:r>
          </a:p>
          <a:p>
            <a:pPr>
              <a:defRPr sz="1800"/>
            </a:pPr>
            <a:r>
              <a:t>How we restructured a single-LLM PPT generator</a:t>
            </a:r>
          </a:p>
          <a:p>
            <a:pPr>
              <a:defRPr sz="1800"/>
            </a:pPr>
            <a:r>
              <a:t>Measured quality gain: 0.06 → 0.98 on a 5-axis rubric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an agent harness?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Orchestration layer around LLM calls: state, routing, tools, retries.</a:t>
            </a:r>
          </a:p>
          <a:p>
            <a:pPr>
              <a:defRPr sz="1800"/>
            </a:pPr>
            <a:r>
              <a:t>Splits one ambiguous prompt into role-bound personas with typed I/O.</a:t>
            </a:r>
          </a:p>
          <a:p>
            <a:pPr>
              <a:defRPr sz="1800"/>
            </a:pPr>
            <a:r>
              <a:t>Adds a critic/QA loop so weak output can be revised before render.</a:t>
            </a:r>
          </a:p>
          <a:p>
            <a:pPr>
              <a:defRPr sz="1800"/>
            </a:pPr>
            <a:r>
              <a:t>Makes runs observable: per-node tracing and structured eval.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Frameworks surveyed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Framework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LangGraph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Typed state 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Deterministic loops + tracing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CrewAI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Role-based crews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Fast prototyping of teams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AutoGen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Conversational agents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Open-ended back-and-forth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Haystack/DSPy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Pipelines/programs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Retrieval, optimisation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Personas in the pipeline</a:t>
            </a:r>
          </a:p>
        </p:txBody>
      </p:sp>
      <p:sp>
        <p:nvSpPr>
          <p:cNvPr id="3" name="Oval 2"/>
          <p:cNvSpPr/>
          <p:nvPr/>
        </p:nvSpPr>
        <p:spPr>
          <a:xfrm>
            <a:off x="3657600" y="2971800"/>
            <a:ext cx="1828800" cy="914400"/>
          </a:xfrm>
          <a:prstGeom prst="ellipse">
            <a:avLst/>
          </a:prstGeom>
          <a:solidFill>
            <a:srgbClr val="1A73E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GraphState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0" y="3108960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Researcher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3429000"/>
            <a:ext cx="2286000" cy="0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55452" y="5283075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Designer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3429000"/>
            <a:ext cx="706412" cy="2174115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899627" y="4452637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Visual Designer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722587" y="3429000"/>
            <a:ext cx="1849413" cy="1343677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99627" y="1765282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QA Reviewer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2722587" y="2085322"/>
            <a:ext cx="1849413" cy="1343678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55452" y="934844"/>
            <a:ext cx="1645920" cy="640080"/>
          </a:xfrm>
          <a:prstGeom prst="roundRect">
            <a:avLst/>
          </a:prstGeom>
          <a:solidFill>
            <a:srgbClr val="E8F0F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t>Renderer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4572000" y="1254884"/>
            <a:ext cx="706412" cy="2174116"/>
          </a:xfrm>
          <a:prstGeom prst="line">
            <a:avLst/>
          </a:prstGeom>
          <a:ln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Orchestration: graph topology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0"/>
            <a:ext cx="1499616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Researcher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39696" y="2286000"/>
            <a:ext cx="1499616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Designer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2192" y="2286000"/>
            <a:ext cx="1499616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Visual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04688" y="2286000"/>
            <a:ext cx="1499616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87184" y="2286000"/>
            <a:ext cx="1499616" cy="1097280"/>
          </a:xfrm>
          <a:prstGeom prst="roundRect">
            <a:avLst/>
          </a:prstGeom>
          <a:solidFill>
            <a:srgbClr val="FFF4E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/>
            </a:pPr>
            <a:r>
              <a:t>Render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56816" y="2834640"/>
            <a:ext cx="18288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39312" y="2834640"/>
            <a:ext cx="18288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21808" y="2834640"/>
            <a:ext cx="18288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004304" y="2834640"/>
            <a:ext cx="18288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QA emits 'LOOP:' findings → router re-enters Designer.</a:t>
            </a:r>
          </a:p>
          <a:p>
            <a:pPr>
              <a:defRPr sz="1800"/>
            </a:pPr>
            <a:r>
              <a:t>Capped at MAX_REVIEW_LOOPS=2 to bound cost.</a:t>
            </a:r>
          </a:p>
          <a:p>
            <a:pPr>
              <a:defRPr sz="1800"/>
            </a:pPr>
            <a:r>
              <a:t>qa_passes counter prevents infinite loops on stuck content.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Heuristics encoded as a structural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≥ 8 slides per deck</a:t>
            </a:r>
          </a:p>
          <a:p>
            <a:pPr>
              <a:defRPr sz="1800"/>
            </a:pPr>
            <a:r>
              <a:t>Non-empty learning_objectives</a:t>
            </a:r>
          </a:p>
          <a:p>
            <a:pPr>
              <a:defRPr sz="1800"/>
            </a:pPr>
            <a:r>
              <a:t>≥ 1 quiz block per 5 slides</a:t>
            </a:r>
          </a:p>
          <a:p>
            <a:pPr>
              <a:defRPr sz="1800"/>
            </a:pPr>
            <a:r>
              <a:t>≥ 1 scenario block per deck</a:t>
            </a:r>
          </a:p>
          <a:p>
            <a:pPr>
              <a:defRPr sz="1800"/>
            </a:pPr>
            <a:r>
              <a:t>≥ 1 citation across the deck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Measured impact: rubric scores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9080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2800" b="1"/>
            </a:pPr>
            <a:r>
              <a:t>0.06</a:t>
            </a:r>
          </a:p>
          <a:p>
            <a:pPr>
              <a:defRPr sz="1200"/>
            </a:pPr>
            <a:r>
              <a:t>Baseline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6600" y="1371600"/>
            <a:ext cx="259080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2800" b="1"/>
            </a:pPr>
            <a:r>
              <a:t>0.98</a:t>
            </a:r>
          </a:p>
          <a:p>
            <a:pPr>
              <a:defRPr sz="1200"/>
            </a:pPr>
            <a:r>
              <a:t>Harness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0" y="1371600"/>
            <a:ext cx="2590800" cy="1828800"/>
          </a:xfrm>
          <a:prstGeom prst="roundRect">
            <a:avLst/>
          </a:prstGeom>
          <a:solidFill>
            <a:srgbClr val="E8F0FE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2800" b="1"/>
            </a:pPr>
            <a:r>
              <a:t>+0.92</a:t>
            </a:r>
          </a:p>
          <a:p>
            <a:pPr>
              <a:defRPr sz="1200"/>
            </a:pPr>
            <a:r>
              <a:t>Delta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5-axis rubric: structure, learning, variety, citations, hazards.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Per-axis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22514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Axis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Harness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t>Objective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1.00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t>Content variety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1.00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t>Citation density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0.91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t>Quiz density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1.00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t>Scenario presence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1.00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Which finding causes the QA→Designer loop to fire?</a:t>
            </a:r>
          </a:p>
          <a:p>
            <a:pPr>
              <a:defRPr sz="1800"/>
            </a:pPr>
            <a:r>
              <a:t>A. Any string in review_findings</a:t>
            </a:r>
          </a:p>
          <a:p>
            <a:pPr>
              <a:defRPr sz="1800"/>
            </a:pPr>
            <a:r>
              <a:t>B. Only findings starting with 'LOOP:'</a:t>
            </a:r>
          </a:p>
          <a:p>
            <a:pPr>
              <a:defRPr sz="1800"/>
            </a:pPr>
            <a:r>
              <a:t>C. Only findings starting with 'WARN:'</a:t>
            </a:r>
          </a:p>
          <a:p>
            <a:pPr>
              <a:defRPr sz="1800"/>
            </a:pPr>
            <a:r>
              <a:t>D. Whatever the LLM critic says, always</a:t>
            </a:r>
          </a:p>
          <a:p>
            <a:pPr>
              <a:defRPr sz="1800"/>
            </a:pPr>
            <a:r>
              <a:t>Answer: 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Scenario: a sparse first 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Scenario: Designer emits a 3-slide deck with no quiz, no scenario, and no citations.</a:t>
            </a:r>
          </a:p>
          <a:p>
            <a:pPr>
              <a:defRPr sz="1800"/>
            </a:pPr>
            <a:r>
              <a:t>Question: What does the harness do next?</a:t>
            </a:r>
          </a:p>
          <a:p>
            <a:pPr>
              <a:defRPr sz="1800"/>
            </a:pPr>
            <a:r>
              <a:t>A. Render it anyway and ship.</a:t>
            </a:r>
          </a:p>
          <a:p>
            <a:pPr>
              <a:defRPr sz="1800"/>
            </a:pPr>
            <a:r>
              <a:t>B. Structural QA emits LOOP findings; Designer re-runs with feedback.</a:t>
            </a:r>
          </a:p>
          <a:p>
            <a:pPr>
              <a:defRPr sz="1800"/>
            </a:pPr>
            <a:r>
              <a:t>C. Researcher is invoked again.</a:t>
            </a:r>
          </a:p>
          <a:p>
            <a:pPr>
              <a:defRPr sz="1800"/>
            </a:pPr>
            <a:r>
              <a:t>Debrief: B. The structural pass alone is enough to trigger a rerun — no LLM critic needed for floor-level violations.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Decompose by persona, not by prompt section.</a:t>
            </a:r>
          </a:p>
          <a:p>
            <a:pPr>
              <a:defRPr sz="1800"/>
            </a:pPr>
            <a:r>
              <a:t>Make heuristics a deterministic gate, not vibes in a prompt.</a:t>
            </a:r>
          </a:p>
          <a:p>
            <a:pPr>
              <a:defRPr sz="1800"/>
            </a:pPr>
            <a:r>
              <a:t>Score every run — regressions are silent without a rubric.</a:t>
            </a:r>
          </a:p>
          <a:p>
            <a:pPr>
              <a:defRPr sz="1800"/>
            </a:pPr>
            <a:r>
              <a:t>Keep the critic loop bounded; cost grows linearly with passes.</a:t>
            </a:r>
          </a:p>
          <a:p>
            <a:pPr>
              <a:defRPr sz="1800"/>
            </a:pPr>
            <a:r>
              <a:t>Seed fakes for hermetic case studies; reserve real LLM for prod.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