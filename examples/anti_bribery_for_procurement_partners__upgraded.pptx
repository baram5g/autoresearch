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Identify red flags relevant to Anti-bribery for procurement partners Apply the procurement partners gift and hospitality policy Escalate concerns through the correct channel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gift policy in a realistic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Anti-bribery for procurement partners for procurement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Identify red flags relevant to Anti-bribery for procurement partners</a:t>
            </a:r>
          </a:p>
          <a:p>
            <a:pPr>
              <a:defRPr sz="1800"/>
            </a:pPr>
            <a:r>
              <a:t>Apply the procurement partners gift and hospitality policy</a:t>
            </a:r>
          </a:p>
          <a:p>
            <a:pPr>
              <a:defRPr sz="1800"/>
            </a:pPr>
            <a:r>
              <a:t>Escalate concerns through the correct channel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By the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590800" cy="1828800"/>
          </a:xfrm>
          <a:prstGeom prst="roundRect">
            <a:avLst/>
          </a:prstGeom>
          <a:solidFill>
            <a:srgbClr val="E8F0FE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2800" b="1"/>
            </a:pPr>
            <a:r>
              <a:t>$3.6B</a:t>
            </a:r>
          </a:p>
          <a:p>
            <a:pPr>
              <a:defRPr sz="1200"/>
            </a:pPr>
            <a:r>
              <a:t>5y enforcement penalties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76600" y="1371600"/>
            <a:ext cx="2590800" cy="1828800"/>
          </a:xfrm>
          <a:prstGeom prst="roundRect">
            <a:avLst/>
          </a:prstGeom>
          <a:solidFill>
            <a:srgbClr val="E8F0FE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2800" b="1"/>
            </a:pPr>
            <a:r>
              <a:t>78%</a:t>
            </a:r>
          </a:p>
          <a:p>
            <a:pPr>
              <a:defRPr sz="1200"/>
            </a:pPr>
            <a:r>
              <a:t>via 3rd parties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0" y="1371600"/>
            <a:ext cx="2590800" cy="1828800"/>
          </a:xfrm>
          <a:prstGeom prst="roundRect">
            <a:avLst/>
          </a:prstGeom>
          <a:solidFill>
            <a:srgbClr val="E8F0FE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2800" b="1"/>
            </a:pPr>
            <a:r>
              <a:t>9 / 10</a:t>
            </a:r>
          </a:p>
          <a:p>
            <a:pPr>
              <a:defRPr sz="1200"/>
            </a:pPr>
            <a:r>
              <a:t>have a written policy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Sources: [N5] [N2]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Escalation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920240" cy="1097280"/>
          </a:xfrm>
          <a:prstGeom prst="roundRect">
            <a:avLst/>
          </a:prstGeom>
          <a:solidFill>
            <a:srgbClr val="FFF4E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/>
            </a:pPr>
            <a:r>
              <a:t>Detect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286000"/>
            <a:ext cx="1920240" cy="1097280"/>
          </a:xfrm>
          <a:prstGeom prst="roundRect">
            <a:avLst/>
          </a:prstGeom>
          <a:solidFill>
            <a:srgbClr val="FFF4E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/>
            </a:pPr>
            <a:r>
              <a:t>Triage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2286000"/>
            <a:ext cx="1920240" cy="1097280"/>
          </a:xfrm>
          <a:prstGeom prst="roundRect">
            <a:avLst/>
          </a:prstGeom>
          <a:solidFill>
            <a:srgbClr val="FFF4E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/>
            </a:pPr>
            <a:r>
              <a:t>Escalate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2286000"/>
            <a:ext cx="1920240" cy="1097280"/>
          </a:xfrm>
          <a:prstGeom prst="roundRect">
            <a:avLst/>
          </a:prstGeom>
          <a:solidFill>
            <a:srgbClr val="FFF4E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/>
            </a:pPr>
            <a:r>
              <a:t>Resolve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7440" y="2834640"/>
            <a:ext cx="182880" cy="0"/>
          </a:xfrm>
          <a:prstGeom prst="line">
            <a:avLst/>
          </a:prstGeom>
          <a:ln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480560" y="2834640"/>
            <a:ext cx="182880" cy="0"/>
          </a:xfrm>
          <a:prstGeom prst="line">
            <a:avLst/>
          </a:prstGeom>
          <a:ln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583680" y="2834640"/>
            <a:ext cx="182880" cy="0"/>
          </a:xfrm>
          <a:prstGeom prst="line">
            <a:avLst/>
          </a:prstGeom>
          <a:ln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Do / Don't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57150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Do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Don't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Decline cash gifts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Accept envelopes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Log hospitality &gt; $50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Skip the log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Ask compliance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Improvise on grey areas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Which of these is a red flag?</a:t>
            </a:r>
          </a:p>
          <a:p>
            <a:pPr>
              <a:defRPr sz="1800"/>
            </a:pPr>
            <a:r>
              <a:t>A. An unusually high commission to a local agent</a:t>
            </a:r>
          </a:p>
          <a:p>
            <a:pPr>
              <a:defRPr sz="1800"/>
            </a:pPr>
            <a:r>
              <a:t>B. A signed master services agreement</a:t>
            </a:r>
          </a:p>
          <a:p>
            <a:pPr>
              <a:defRPr sz="1800"/>
            </a:pPr>
            <a:r>
              <a:t>C. An audit log of approved gifts</a:t>
            </a:r>
          </a:p>
          <a:p>
            <a:pPr>
              <a:defRPr sz="1800"/>
            </a:pPr>
            <a:r>
              <a:t>Answer: 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Scenario: A long-standing procurement offers a fully paid family trip to celebrate a contract renewal.</a:t>
            </a:r>
          </a:p>
          <a:p>
            <a:pPr>
              <a:defRPr sz="1800"/>
            </a:pPr>
            <a:r>
              <a:t>Question: What do you do?</a:t>
            </a:r>
          </a:p>
          <a:p>
            <a:pPr>
              <a:defRPr sz="1800"/>
            </a:pPr>
            <a:r>
              <a:t>A. Accept; it's a relationship-builder.</a:t>
            </a:r>
          </a:p>
          <a:p>
            <a:pPr>
              <a:defRPr sz="1800"/>
            </a:pPr>
            <a:r>
              <a:t>B. Decline and log the offer.</a:t>
            </a:r>
          </a:p>
          <a:p>
            <a:pPr>
              <a:defRPr sz="1800"/>
            </a:pPr>
            <a:r>
              <a:t>C. Escalate to compliance.</a:t>
            </a:r>
          </a:p>
          <a:p>
            <a:pPr>
              <a:defRPr sz="1800"/>
            </a:pPr>
            <a:r>
              <a:t>Debrief: Decline and log; consult compliance if pressured.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A real situation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1371600"/>
            <a:ext cx="5486400" cy="3657600"/>
          </a:xfrm>
          <a:prstGeom prst="rect">
            <a:avLst/>
          </a:prstGeom>
          <a:solidFill>
            <a:srgbClr val="F3F4F6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i="1"/>
            </a:pPr>
            <a:r>
              <a:t>[image] A procurement partners reviewing a contract while declining a gift, modern office, neutral palette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Oval 2"/>
          <p:cNvSpPr/>
          <p:nvPr/>
        </p:nvSpPr>
        <p:spPr>
          <a:xfrm>
            <a:off x="3657600" y="2971800"/>
            <a:ext cx="1828800" cy="914400"/>
          </a:xfrm>
          <a:prstGeom prst="ellipse">
            <a:avLst/>
          </a:prstGeom>
          <a:solidFill>
            <a:srgbClr val="1A73E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Anti-bribery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0" y="3108960"/>
            <a:ext cx="1645920" cy="640080"/>
          </a:xfrm>
          <a:prstGeom prst="roundRect">
            <a:avLst/>
          </a:prstGeom>
          <a:solidFill>
            <a:srgbClr val="E8F0F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t>Gifts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3429000"/>
            <a:ext cx="2286000" cy="0"/>
          </a:xfrm>
          <a:prstGeom prst="line">
            <a:avLst/>
          </a:prstGeom>
          <a:ln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749040" y="5394960"/>
            <a:ext cx="1645920" cy="640080"/>
          </a:xfrm>
          <a:prstGeom prst="roundRect">
            <a:avLst/>
          </a:prstGeom>
          <a:solidFill>
            <a:srgbClr val="E8F0F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t>Hospitality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3429000"/>
            <a:ext cx="0" cy="2286000"/>
          </a:xfrm>
          <a:prstGeom prst="line">
            <a:avLst/>
          </a:prstGeom>
          <a:ln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463040" y="3108960"/>
            <a:ext cx="1645920" cy="640080"/>
          </a:xfrm>
          <a:prstGeom prst="roundRect">
            <a:avLst/>
          </a:prstGeom>
          <a:solidFill>
            <a:srgbClr val="E8F0F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t>3rd parties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286000" y="3429000"/>
            <a:ext cx="2286000" cy="0"/>
          </a:xfrm>
          <a:prstGeom prst="line">
            <a:avLst/>
          </a:prstGeom>
          <a:ln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749040" y="822960"/>
            <a:ext cx="1645920" cy="640080"/>
          </a:xfrm>
          <a:prstGeom prst="roundRect">
            <a:avLst/>
          </a:prstGeom>
          <a:solidFill>
            <a:srgbClr val="E8F0F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t>Donations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572000" y="1143000"/>
            <a:ext cx="0" cy="2286000"/>
          </a:xfrm>
          <a:prstGeom prst="line">
            <a:avLst/>
          </a:prstGeom>
          <a:ln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