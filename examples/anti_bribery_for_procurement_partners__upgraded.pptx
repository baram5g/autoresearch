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red flags relevant to Anti-bribery for procurement partners Apply the procurement partners gift and hospitality policy Escalate concerns through the correct channel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gift policy in a realistic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Anti-bribery for procurement partners for procurement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Identify red flags relevant to Anti-bribery for procurement partners</a:t>
            </a:r>
          </a:p>
          <a:p>
            <a:pPr>
              <a:defRPr sz="1800"/>
            </a:pPr>
            <a:r>
              <a:t>Apply the procurement partners gift and hospitality policy</a:t>
            </a:r>
          </a:p>
          <a:p>
            <a:pPr>
              <a:defRPr sz="1800"/>
            </a:pPr>
            <a:r>
              <a:t>Escalate concerns through the correct 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$3.6B</a:t>
            </a:r>
          </a:p>
          <a:p>
            <a:pPr>
              <a:defRPr sz="1200"/>
            </a:pPr>
            <a:r>
              <a:t>5y enforcement penalties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66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78%</a:t>
            </a:r>
          </a:p>
          <a:p>
            <a:pPr>
              <a:defRPr sz="1200"/>
            </a:pPr>
            <a:r>
              <a:t>via 3rd parties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9 / 10</a:t>
            </a:r>
          </a:p>
          <a:p>
            <a:pPr>
              <a:defRPr sz="1200"/>
            </a:pPr>
            <a:r>
              <a:t>have a written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Sources: [N5] [N2]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Escalation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Detect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Escalate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286000"/>
            <a:ext cx="1920240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Resolve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60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0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Do / Don't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715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Do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Don't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Decline cash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Accept envelopes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Log hospitality &gt; $50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Skip the log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Ask compliance 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Improvise on grey areas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Which of these is a red flag?</a:t>
            </a:r>
          </a:p>
          <a:p>
            <a:pPr>
              <a:defRPr sz="1800"/>
            </a:pPr>
            <a:r>
              <a:t>A. An unusually high commission to a local agent</a:t>
            </a:r>
          </a:p>
          <a:p>
            <a:pPr>
              <a:defRPr sz="1800"/>
            </a:pPr>
            <a:r>
              <a:t>B. A signed master services agreement</a:t>
            </a:r>
          </a:p>
          <a:p>
            <a:pPr>
              <a:defRPr sz="1800"/>
            </a:pPr>
            <a:r>
              <a:t>C. An audit log of approved gifts</a:t>
            </a:r>
          </a:p>
          <a:p>
            <a:pPr>
              <a:defRPr sz="1800"/>
            </a:pPr>
            <a:r>
              <a:t>Answer: 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Scenario: A long-standing procurement offers a fully paid family trip to celebrate a contract renewal.</a:t>
            </a:r>
          </a:p>
          <a:p>
            <a:pPr>
              <a:defRPr sz="1800"/>
            </a:pPr>
            <a:r>
              <a:t>Question: What do you do?</a:t>
            </a:r>
          </a:p>
          <a:p>
            <a:pPr>
              <a:defRPr sz="1800"/>
            </a:pPr>
            <a:r>
              <a:t>A. Accept; it's a relationship-builder.</a:t>
            </a:r>
          </a:p>
          <a:p>
            <a:pPr>
              <a:defRPr sz="1800"/>
            </a:pPr>
            <a:r>
              <a:t>B. Decline and log the offer.</a:t>
            </a:r>
          </a:p>
          <a:p>
            <a:pPr>
              <a:defRPr sz="1800"/>
            </a:pPr>
            <a:r>
              <a:t>C. Escalate to compliance.</a:t>
            </a:r>
          </a:p>
          <a:p>
            <a:pPr>
              <a:defRPr sz="1800"/>
            </a:pPr>
            <a:r>
              <a:t>Debrief: Decline and log; consult compliance if pressured.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 real situation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5486400" cy="365760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/>
            </a:pPr>
            <a:r>
              <a:t>[image] A diverse group of procurement partners, mixed ages and ethnicities, reviewing a contract while declining a wrapped gift; modern open-plan office, soft daylight from large windows, neutral palette, 35mm f/2.8 documentary photography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3657600" y="2971800"/>
            <a:ext cx="1828800" cy="914400"/>
          </a:xfrm>
          <a:prstGeom prst="ellipse">
            <a:avLst/>
          </a:prstGeom>
          <a:solidFill>
            <a:srgbClr val="1A73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Anti-bribery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3108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Gifts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429000"/>
            <a:ext cx="2286000" cy="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9040" y="5394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Hospitality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429000"/>
            <a:ext cx="0" cy="228600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63040" y="3108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3rd parties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286000" y="3429000"/>
            <a:ext cx="2286000" cy="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40" y="822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Donations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72000" y="1143000"/>
            <a:ext cx="0" cy="228600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Decline gifts that exceed the policy threshold</a:t>
            </a:r>
          </a:p>
          <a:p>
            <a:pPr>
              <a:defRPr sz="1800"/>
            </a:pPr>
            <a:r>
              <a:t>Log every received gift in the central register</a:t>
            </a:r>
          </a:p>
          <a:p>
            <a:pPr>
              <a:defRPr sz="1800"/>
            </a:pPr>
            <a:r>
              <a:t>Escalate suspected bribery to compliance within 24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Which gift must always be logged?</a:t>
            </a:r>
          </a:p>
          <a:p>
            <a:pPr>
              <a:defRPr sz="1800"/>
            </a:pPr>
            <a:r>
              <a:t>A. Any gift above the policy threshold</a:t>
            </a:r>
          </a:p>
          <a:p>
            <a:pPr>
              <a:defRPr sz="1800"/>
            </a:pPr>
            <a:r>
              <a:t>B. Promotional pens</a:t>
            </a:r>
          </a:p>
          <a:p>
            <a:pPr>
              <a:defRPr sz="1800"/>
            </a:pPr>
            <a:r>
              <a:t>C. Branded notebooks</a:t>
            </a:r>
          </a:p>
          <a:p>
            <a:pPr>
              <a:defRPr sz="1800"/>
            </a:pPr>
            <a:r>
              <a:t>Answer: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